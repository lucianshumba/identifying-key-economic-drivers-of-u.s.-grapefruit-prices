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54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347472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2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TIME SERIES ANALYTICS  ·  FINAL EXAM PROJECT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the Key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Drivers of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Grapefruit Prices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5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Multivariate Feature-Engineered Time Series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6459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587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Grapefruit (Citrus paradisi)   ·   USDA ERS   ·   1980–2024   ·   44 Annual Obs.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0" y="640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+363%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3504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increase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 →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423160"/>
            <a:ext cx="18288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5420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…yet Florida's grapefruit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is near collapse.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  ·  Financial Time Series Analytics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5943600" cy="37490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question: What actually drives grapefruit prices — and can we predict them?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5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them what we'll tell them  ·  Tell them  ·  Tell them what we told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4864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207008"/>
            <a:ext cx="384048" cy="384048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Problem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1673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market, why this question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078992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78992"/>
            <a:ext cx="54864" cy="12344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19272" y="1207008"/>
            <a:ext cx="384048" cy="384048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3048" y="11887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Objectives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1673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years, 15 drivers, 4 goals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2472" y="1078992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2472" y="1078992"/>
            <a:ext cx="54864" cy="123444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08776" y="1207008"/>
            <a:ext cx="384048" cy="384048"/>
          </a:xfrm>
          <a:prstGeom prst="ellipse">
            <a:avLst/>
          </a:prstGeom>
          <a:solidFill>
            <a:srgbClr val="0F6B7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02552" y="11887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08776" y="167335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economic signals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87168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Shape 23"/>
          <p:cNvSpPr/>
          <p:nvPr/>
        </p:nvSpPr>
        <p:spPr>
          <a:xfrm>
            <a:off x="420624" y="2615184"/>
            <a:ext cx="384048" cy="384048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59689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Proposals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0624" y="30815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ARDL, Random Forest, LSTM — and why ARDL wins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72968" y="2487168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2487168"/>
            <a:ext cx="54864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Shape 29"/>
          <p:cNvSpPr/>
          <p:nvPr/>
        </p:nvSpPr>
        <p:spPr>
          <a:xfrm>
            <a:off x="3319272" y="2615184"/>
            <a:ext cx="384048" cy="384048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13048" y="259689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19272" y="30815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price — ranked and explained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62472" y="2487168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62472" y="2487168"/>
            <a:ext cx="54864" cy="12344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8776" y="2615184"/>
            <a:ext cx="384048" cy="384048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08776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02552" y="259689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Outlook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08776" y="30815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stress and recovery scenarios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895344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895344"/>
            <a:ext cx="54864" cy="123444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43" name="Shape 41"/>
          <p:cNvSpPr/>
          <p:nvPr/>
        </p:nvSpPr>
        <p:spPr>
          <a:xfrm>
            <a:off x="420624" y="4023360"/>
            <a:ext cx="384048" cy="384048"/>
          </a:xfrm>
          <a:prstGeom prst="ellipse">
            <a:avLst/>
          </a:prstGeom>
          <a:solidFill>
            <a:srgbClr val="0F6B75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2062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" y="4005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by Objective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0624" y="44897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+ recommendations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72968" y="3895344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72968" y="3895344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9" name="Shape 47"/>
          <p:cNvSpPr/>
          <p:nvPr/>
        </p:nvSpPr>
        <p:spPr>
          <a:xfrm>
            <a:off x="3319272" y="4023360"/>
            <a:ext cx="384048" cy="384048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31927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13048" y="4005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Research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319272" y="44897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 this work opens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62472" y="3895344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62472" y="3895344"/>
            <a:ext cx="54864" cy="1234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5" name="Shape 53"/>
          <p:cNvSpPr/>
          <p:nvPr/>
        </p:nvSpPr>
        <p:spPr>
          <a:xfrm>
            <a:off x="6208776" y="4023360"/>
            <a:ext cx="384048" cy="384048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20877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02552" y="40050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208776" y="448970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told you — and what to do with it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8097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Grapefruit prices are determined by supply destruction — not random chance. They are measurable, explainable, and actionable.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BACKGROUND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Grapefruit Paradox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539496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24128"/>
            <a:ext cx="2926080" cy="107899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024128"/>
            <a:ext cx="64008" cy="10789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6053328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PARADOX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53328" y="14173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rose +363% from $3.50 to $16.20/box — yet the industry producing them has nearly ceased to exist. Florida lost &gt;90% of output.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97880" y="2221992"/>
            <a:ext cx="2926080" cy="107899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97880" y="2221992"/>
            <a:ext cx="64008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053328" y="22768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53328" y="261518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volatile, non-stationary, and driven by multiple overlapping forces: disease, storms, macroeconomics, and trade. Traditional univariate models fail.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3456432"/>
            <a:ext cx="8503920" cy="1371600"/>
          </a:xfrm>
          <a:prstGeom prst="rect">
            <a:avLst/>
          </a:prstGeom>
          <a:solidFill>
            <a:srgbClr val="2D6A4F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" y="3456432"/>
            <a:ext cx="850392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DOMAIN INSIGHT — TWO SIMULTANEOUS STRUCTURAL FORCES:</a:t>
            </a:r>
            <a:endParaRPr lang="en-US" sz="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5876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248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HLB Disease (2005+)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7200" y="418795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Incurable citrus greening infected &gt;90% of FL trees by 2020. No commercial cure exists — permanent supply destruction.</a:t>
            </a:r>
            <a:endParaRPr lang="en-US" sz="8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85876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75888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Interaction Effect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291840" y="418795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Grapefruit inhibits statin metabolism. As prescriptions hit 90M+ Americans, cardiologists banned grapefruit. Demand structurally collapsed.</a:t>
            </a:r>
            <a:endParaRPr lang="en-US" sz="8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5876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10528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Hurricane Volatility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126480" y="4187952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Charley (2004), Irma (2017), Andrew (1992) each caused immediate supply shocks, with 1–2 year price echoes.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&amp; OBJECTIVES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Objectives. One Integrated Framework.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45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observations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1980/81 – 2023/24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32888" y="1024128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32888" y="1024128"/>
            <a:ext cx="201168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32888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driver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collected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231136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31136"/>
            <a:ext cx="201168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042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0040" y="2898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types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32888" y="2231136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32888" y="2231136"/>
            <a:ext cx="201168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2532888" y="23042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32888" y="2898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proposals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(ARDL fully developed)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160520" cy="86868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24128"/>
            <a:ext cx="4160520" cy="45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773168" y="1225296"/>
            <a:ext cx="347472" cy="347472"/>
          </a:xfrm>
          <a:prstGeom prst="ellipse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30368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&amp; Supply Dynamics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499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price trends and five structural regimes across 44 years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4160520" cy="86868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011680"/>
            <a:ext cx="416052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Shape 27"/>
          <p:cNvSpPr/>
          <p:nvPr/>
        </p:nvSpPr>
        <p:spPr>
          <a:xfrm>
            <a:off x="4773168" y="2212848"/>
            <a:ext cx="347472" cy="347472"/>
          </a:xfrm>
          <a:prstGeom prst="ellipse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30368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Stationarity &amp;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+ KPSS tests confirm I(1) — motivating ARDL framework and cointegration testing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999232"/>
            <a:ext cx="4160520" cy="86868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999232"/>
            <a:ext cx="416052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35" name="Shape 33"/>
          <p:cNvSpPr/>
          <p:nvPr/>
        </p:nvSpPr>
        <p:spPr>
          <a:xfrm>
            <a:off x="4773168" y="3200400"/>
            <a:ext cx="347472" cy="347472"/>
          </a:xfrm>
          <a:prstGeom prst="ellipse">
            <a:avLst/>
          </a:prstGeom>
          <a:solidFill>
            <a:srgbClr val="0F6B75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30368" y="3090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Variable Selection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474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transformation types + VIF + Random Forest OOB importance screening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986784"/>
            <a:ext cx="4160520" cy="86868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86784"/>
            <a:ext cx="416052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1" name="Shape 39"/>
          <p:cNvSpPr/>
          <p:nvPr/>
        </p:nvSpPr>
        <p:spPr>
          <a:xfrm>
            <a:off x="4773168" y="4187952"/>
            <a:ext cx="347472" cy="347472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30368" y="40782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ARDL Model, Validation &amp; Projection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44622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validate, and scenario-project with economic interpretability as primary metric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097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USDA ERS Fruit &amp; Tree Nuts Yearbook (Tables C-1, C-2, C-4)  ·  FRED (CPI, Unemployment, Fed Funds, USD)  ·  NOAA Hurricane ACE  ·  FDACS HLB Infection Rates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SUPPLY STORY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 of Florida's Grapefruit Acreage Has Vanished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850392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370832"/>
            <a:ext cx="2057400" cy="64008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370832"/>
            <a:ext cx="2057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4256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464515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Andrew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4370832"/>
            <a:ext cx="2057400" cy="64008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4370832"/>
            <a:ext cx="2057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44256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2004–05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68880" y="464515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Season + HLB Detected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17720" y="4370832"/>
            <a:ext cx="2057400" cy="64008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4370832"/>
            <a:ext cx="2057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44256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464515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Irma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66560" y="4370832"/>
            <a:ext cx="2057400" cy="64008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4370832"/>
            <a:ext cx="2057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44256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2020–21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0" y="464515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Demand Surge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FEATURE ENGINEERING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Rarely Tells the Truth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applied 8 transformation types to surface hidden economic signals.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2651760" cy="45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Transform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extreme swings into proportional changes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Makes % changes comparable across 44 years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35331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53312"/>
            <a:ext cx="26517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Lagged Variables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supply predicts this year's price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Captures the production→price delay in citrus biology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35331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353312"/>
            <a:ext cx="265176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4813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Volatility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0488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unstable prices have been recently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0488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Identifies high-uncertainty regimes that shift buyer behavior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90672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Shock Dummies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flags for hurricanes, freezes, disease years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Isolates the price spike attributable to a specific event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309067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090672"/>
            <a:ext cx="265176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HLB × Hurricane Interaction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0128" y="3593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severity multiplied by storm intensity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When both hit together, price spikes exceed either alone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53328" y="3090672"/>
            <a:ext cx="2651760" cy="158191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3090672"/>
            <a:ext cx="265176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Indicators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0488" y="3593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 era labels (1980–2024)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0488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Allows the model to behave differently across market eras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MODEL PROPOSALS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Approaches Considered — One Fully Developed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0006"/>
            <a:ext cx="2743200" cy="388620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097280"/>
            <a:ext cx="2542032" cy="274320"/>
          </a:xfrm>
          <a:prstGeom prst="rect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097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&amp; FULLY DEVELOPED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4447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768" y="187452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Distributed Lag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9768" y="2194560"/>
            <a:ext cx="2542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44 observations, interpretability must come first. ARDL provides coefficient-level economic elasticities, handles mixed I(0)/I(1) variables, and is validated by Pesaran bounds cointegration test.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9768" y="3401568"/>
            <a:ext cx="2542032" cy="36576"/>
          </a:xfrm>
          <a:prstGeom prst="rect">
            <a:avLst/>
          </a:prstGeom>
          <a:solidFill>
            <a:srgbClr val="D4A017">
              <a:alpha val="4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" y="349300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0.91, Bounds F-test, CUSUM, RESET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27832" y="1024128"/>
            <a:ext cx="2743200" cy="388620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1024128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7560" y="1097280"/>
            <a:ext cx="2542032" cy="274320"/>
          </a:xfrm>
          <a:prstGeom prst="rect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1097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VARIABLE SELECTION</a:t>
            </a:r>
            <a:endParaRPr lang="en-US" sz="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6304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4447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337560" y="187452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500 Decision Trees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337560" y="2194560"/>
            <a:ext cx="2542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cannot give economic elasticities (black box) and overfits with n=44. Used in Phase 4 for OOB feature importance screening — which features matter most — rather than as a standalone forecasting model.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337560" y="3401568"/>
            <a:ext cx="2542032" cy="36576"/>
          </a:xfrm>
          <a:prstGeom prst="rect">
            <a:avLst/>
          </a:prstGeom>
          <a:solidFill>
            <a:srgbClr val="D4A017">
              <a:alpha val="4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3337560" y="349300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importance, permutation importance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35624" y="1024128"/>
            <a:ext cx="2743200" cy="388620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35624" y="1024128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Shape 23"/>
          <p:cNvSpPr/>
          <p:nvPr/>
        </p:nvSpPr>
        <p:spPr>
          <a:xfrm>
            <a:off x="6245352" y="1097280"/>
            <a:ext cx="2542032" cy="274320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6245352" y="1097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PROPOSED — NOT RUN</a:t>
            </a:r>
            <a:endParaRPr lang="en-US" sz="8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304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02552" y="14447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245352" y="187452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Neural Net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245352" y="2194560"/>
            <a:ext cx="2542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disqualifying reasons: (1) n=44 is far below the ~200+ sequences needed for stable LSTM training. (2) Annual frequency gives no temporal advantage over AR lags. (3) Primary criterion is interpretability — LSTMs require SHAP post-hoc analysis, adding complexity without clarity.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245352" y="3401568"/>
            <a:ext cx="2542032" cy="36576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245352" y="349300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computed — would need n&gt;200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VARIABLE SELECTION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Screened 15 Drivers — Supply Dominates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5669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987552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987552"/>
            <a:ext cx="54864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6291072" y="102412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39712" y="102412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ln_production_ktons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91072" y="13716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volume is the dominant signal — by a large margin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72200" y="1856232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856232"/>
            <a:ext cx="54864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89280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39712" y="189280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momentum (AR lag)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91072" y="22402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price shock echoes forward into next year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72200" y="2724912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724912"/>
            <a:ext cx="54864" cy="77724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76148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39712" y="276148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production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91072" y="310896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decisions propagate with a 1-year biological delay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72200" y="3593592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593592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0"/>
          <p:cNvSpPr/>
          <p:nvPr/>
        </p:nvSpPr>
        <p:spPr>
          <a:xfrm>
            <a:off x="6291072" y="36301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#4–7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39712" y="3630168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post_hlb, time_trend,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rolling_vol, ln_prod_lag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91072" y="39776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era and trend variables — partially collinear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8097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R² from RF gives importance rankings only — ARDL provides the economic elasticities used for interpretation and projection.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FINDINGS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Explain 91% of Price Variation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457200"/>
          </a:xfrm>
          <a:prstGeom prst="rect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ARDL Model:  </a:t>
            </a:r>
            <a:r>
              <a:rPr lang="en-US" sz="9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  ·  Adj-R² = 0.88  ·  Observations: 43  ·  </a:t>
            </a: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this: </a:t>
            </a:r>
            <a:r>
              <a:rPr lang="en-US" sz="9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explains 91% of all historical price movements using 6 economic variables.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743200" cy="153619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2743200" cy="4572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6420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9768" y="206654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DESTRUCTION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" y="239572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−0.57 (p=0.09)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26791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10% fall in production → price rises ~5.7%. Florida lost 90%+ of output. That is why prices tripled.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572768"/>
            <a:ext cx="2743200" cy="153619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572768"/>
            <a:ext cx="2743200" cy="4572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66420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673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310128" y="206654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MOMENTUM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10128" y="239572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+0.42 (p=0.009)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10128" y="26791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a price shock persists into the next year. Hurricanes and disease don't just spike prices — they echo forward.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080760" y="1572768"/>
            <a:ext cx="2743200" cy="153619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572768"/>
            <a:ext cx="2743200" cy="4572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66420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4768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190488" y="206654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HLB STRUCTURAL BREAK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90488" y="239572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Post-2005 regime shift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90488" y="267919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2005 HLB detection permanently redefined price behavior. The post-HLB era sees 3× higher prices — supply was permanently destroyed.</a:t>
            </a:r>
            <a:endParaRPr lang="en-US" sz="8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182112"/>
            <a:ext cx="850392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5-YEAR OUTLOOK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Scenario-Based Price Projections: 2024–2028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forecast — an interpretive planning tool grounded in identified drivers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9893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73952" y="1261872"/>
            <a:ext cx="2350008" cy="100584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73952" y="1261872"/>
            <a:ext cx="2350008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6565392" y="13350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78040" y="130759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~$17/box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65392" y="1682496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 holds at 98% infection. No major hurricane. CPI rises moderately. Supply constrained, price gently climbs.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73952" y="2377440"/>
            <a:ext cx="2350008" cy="100584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377440"/>
            <a:ext cx="2350008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565392" y="2450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78040" y="24231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~$22/box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65392" y="2798064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hurricane (ACE&gt;200) + HLB worsens. Supply shock compounds. A single storm season → all-time high prices.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73952" y="3493008"/>
            <a:ext cx="2350008" cy="1005840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73952" y="3493008"/>
            <a:ext cx="2350008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Text 16"/>
          <p:cNvSpPr/>
          <p:nvPr/>
        </p:nvSpPr>
        <p:spPr>
          <a:xfrm>
            <a:off x="6565392" y="3566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78040" y="353872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~$11/box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565392" y="391363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HLB-resistant rootstock deployed. CA acreage expands. Supply recovery → price relief. The ONLY path down.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RESULTS &amp; RECS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 — And What You Should Do About It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33088" cy="1755648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17556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1556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O1 — Identify Drivers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Supply destruction is #1. 10% production fall → ~5.7% price rise. HLB created permanent break post-2005.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" y="2157984"/>
            <a:ext cx="3840480" cy="548640"/>
          </a:xfrm>
          <a:prstGeom prst="rect">
            <a:avLst/>
          </a:prstGeom>
          <a:solidFill>
            <a:srgbClr val="D4A017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18541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Growers: hedge against production shocks. Buyers: monitor FDACS infection rates annually.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971800"/>
            <a:ext cx="4133088" cy="1755648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71800"/>
            <a:ext cx="64008" cy="1755648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306324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O2 — Feature 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410712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8 transformation types. HLB × hurricane interaction reveals compounding risk — disease + storms = disproportionate spike.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" y="4105656"/>
            <a:ext cx="3840480" cy="548640"/>
          </a:xfrm>
          <a:prstGeom prst="rect">
            <a:avLst/>
          </a:prstGeom>
          <a:solidFill>
            <a:srgbClr val="0F6B75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413308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Policy: jointly monitor disease severity AND hurricane forecasts for pre-season risk planning.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1024128"/>
            <a:ext cx="4133088" cy="1755648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1024128"/>
            <a:ext cx="64008" cy="17556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11556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O3 — Build ARDL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01184" y="1463040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ARDL achieves R²=0.91. Stable across 41 of 44 years. COVID 2020–21 breach is explainable and isolated.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01184" y="2157984"/>
            <a:ext cx="3840480" cy="548640"/>
          </a:xfrm>
          <a:prstGeom prst="rect">
            <a:avLst/>
          </a:prstGeom>
          <a:solidFill>
            <a:srgbClr val="52B788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18541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the ARDL coefficient table as a 'price lever' guide: which variables move prices most when they shift.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36592" y="2971800"/>
            <a:ext cx="4133088" cy="1755648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971800"/>
            <a:ext cx="64008" cy="17556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4901184" y="306324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O4 — 5-Year Projection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01184" y="3410712"/>
            <a:ext cx="3858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Base ~$17/box (supply constrained). Stress $22+ (hurricane year). Recovery $11 (rootstock breakthrough).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01184" y="4105656"/>
            <a:ext cx="3840480" cy="548640"/>
          </a:xfrm>
          <a:prstGeom prst="rect">
            <a:avLst/>
          </a:prstGeom>
          <a:solidFill>
            <a:srgbClr val="D4A017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13308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Buyers: build ±30% price risk buffer. Recovery is the only structural path to lower prices.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FUTURE RESEARCH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Questions This Work Opens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model answers 'what drives prices?' — these are the next frontiers.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65176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081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EXTENSION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move to quarterly or monthly data?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USDA AMS prices would capture within-season dynamics and dramatically increase sample size for ML approaches.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2984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298448"/>
            <a:ext cx="2651760" cy="45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4081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SEPARATION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pre/post-HLB driver structure differ?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1031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ARDL models per era would resolve multicollinearity and reveal whether supply elasticity changed after disease onset.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2984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298448"/>
            <a:ext cx="26517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4081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 PROXY UPGRADE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0488" y="16642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official survey data replace our proxy?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21031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NASS Citrus Greening Annual Survey data — when available historically — would reduce measurement error significantly.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27248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369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DECOMPOSITION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statin-grapefruit demand loss worth?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this separately from supply effects would produce a cleaner supply/demand decomposition and improve scenario construction.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31272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127248"/>
            <a:ext cx="265176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369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BENCHMARK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10128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XGBoost complement ARDL?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9319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ensemble with time-series cross-validation would provide a nonparametric benchmark once monthly data increases n sufficiently.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53328" y="3127248"/>
            <a:ext cx="2651760" cy="1627632"/>
          </a:xfrm>
          <a:prstGeom prst="rect">
            <a:avLst/>
          </a:prstGeom>
          <a:solidFill>
            <a:srgbClr val="EDE8DF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3127248"/>
            <a:ext cx="2651760" cy="45720"/>
          </a:xfrm>
          <a:prstGeom prst="rect">
            <a:avLst/>
          </a:prstGeom>
          <a:solidFill>
            <a:srgbClr val="0F6B75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2369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90488" y="3493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we modelled all 4 states?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393192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California, Texas and Arizona as a panel would multiply effective sample size and isolate state-specific HLB and weather exposure.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Told You —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117043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told you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182880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361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drivers, engineer features, propose 3 models, develop ARDL, project 5-year outlook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27832" y="1024128"/>
            <a:ext cx="2743200" cy="1170432"/>
          </a:xfrm>
          <a:prstGeom prst="rect">
            <a:avLst/>
          </a:prstGeom>
          <a:solidFill>
            <a:srgbClr val="D4A017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07899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told you…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85032" y="1481328"/>
            <a:ext cx="1828800" cy="27432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5361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destruction is #1. HLB created a permanent price floor. Price shocks echo for 1–2 years. R²=0.91.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35624" y="1024128"/>
            <a:ext cx="2743200" cy="1170432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107899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told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that…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92824" y="1481328"/>
            <a:ext cx="1828800" cy="27432"/>
          </a:xfrm>
          <a:prstGeom prst="rect">
            <a:avLst/>
          </a:prstGeom>
          <a:solidFill>
            <a:srgbClr val="D4A017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5361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Grapefruit prices will stay elevated. Only a supply recovery — not a demand surge — can bring them down.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Mitigations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137160" cy="137160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7249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(n=44 annual years)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72491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Wide scenario bands; parsimonious ARDL; expanding-window CV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137160" cy="137160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218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 proxy is manually constructed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321868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Cross-checked with USDA APHIS; ±10% sensitivity tested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137160" cy="137160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7124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breach: COVID 2020–21 anomaly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371246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Recommend targeted covid_spike dummy for 2020–2021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261104"/>
            <a:ext cx="137160" cy="137160"/>
          </a:xfrm>
          <a:prstGeom prst="rect">
            <a:avLst/>
          </a:prstGeom>
          <a:solidFill>
            <a:srgbClr val="C0392B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206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supply-destruction era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42062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Must re-estimate if HLB-resistant rootstock scales commercially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2331720"/>
            <a:ext cx="3291840" cy="2697480"/>
          </a:xfrm>
          <a:prstGeom prst="rect">
            <a:avLst/>
          </a:prstGeom>
          <a:solidFill>
            <a:srgbClr val="2C3E50"/>
          </a:solidFill>
          <a:ln/>
          <a:effectLst>
            <a:outerShdw blurRad="127000" dist="508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2331720"/>
            <a:ext cx="329184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5650992" y="23957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TRIGGERS (SR 11-7)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50992" y="278892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(August) — USDA Yearbook release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— Hurricane landfall or new disease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breach — Structural break investigation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 acceleration — &gt;5pp increase in one year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9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review — Full model re-specification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1B4332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60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6400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Grapefruit prices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not random —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predictable.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265176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88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36393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Florida's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is gone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06987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5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— not taste — drives every price movement.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20440" y="36393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price variation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explained by 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40965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5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drivers are known, measurable, and monitorable.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2788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355080" y="36393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box in a bad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hurricane + HLB year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40965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5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quantifiable — which means it is manageable.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grow, buy, regulate, or invest in citrus — this model tells you when to act before the market does.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7793</TotalTime>
  <Words>1925</Words>
  <Application>Microsoft Office PowerPoint</Application>
  <PresentationFormat>On-screen Show (16:9)</PresentationFormat>
  <Paragraphs>265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Economic Drivers of U.S. Grapefruit Prices</dc:title>
  <dc:subject>PptxGenJS Presentation</dc:subject>
  <dc:creator>PptxGenJS</dc:creator>
  <cp:lastModifiedBy>user</cp:lastModifiedBy>
  <cp:revision>5</cp:revision>
  <dcterms:created xsi:type="dcterms:W3CDTF">2026-05-17T21:48:56Z</dcterms:created>
  <dcterms:modified xsi:type="dcterms:W3CDTF">2026-05-24T04:42:12Z</dcterms:modified>
</cp:coreProperties>
</file>